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314450"/>
            <a:ext cx="1964798" cy="4381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100" y="1981199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120">
                <a:solidFill>
                  <a:srgbClr val="1A1714"/>
                </a:solidFill>
                <a:latin typeface="Inter"/>
              </a:rPr>
              <a:t>ANALOG PHOTO BOOTH FOR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2324100"/>
            <a:ext cx="5334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5550" b="1" i="0" spc="-105">
                <a:solidFill>
                  <a:srgbClr val="1A1714"/>
                </a:solidFill>
                <a:latin typeface="Fraunces"/>
              </a:rPr>
              <a:t>Photos your guests actually keep.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4762500"/>
            <a:ext cx="5476875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6E6A62"/>
                </a:solidFill>
                <a:latin typeface="Inter"/>
              </a:rPr>
              <a:t>I bring an analog print booth to your event and run the whole night. Every guest walks out with a real photograph in their hand.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5848350"/>
            <a:ext cx="142875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6E6A62"/>
                </a:solidFill>
                <a:latin typeface="Inter"/>
              </a:rPr>
              <a:t>futurenostalgia.ca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5050" y="5867400"/>
            <a:ext cx="9525" cy="152400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7450" y="5848350"/>
            <a:ext cx="28575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6E6A62"/>
                </a:solidFill>
                <a:latin typeface="Inter"/>
              </a:rPr>
              <a:t>Festivals, hotels &amp; events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153399" y="2857500"/>
            <a:ext cx="3238500" cy="2495550"/>
          </a:xfrm>
          <a:prstGeom prst="rect">
            <a:avLst/>
          </a:prstGeom>
          <a:solidFill>
            <a:srgbClr val="FCFBF7"/>
          </a:solidFill>
          <a:ln w="9525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77225" y="2981325"/>
            <a:ext cx="2990850" cy="1990725"/>
          </a:xfrm>
          <a:prstGeom prst="rect">
            <a:avLst/>
          </a:prstGeom>
          <a:solidFill>
            <a:srgbClr val="E4DF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34690" y="3678078"/>
            <a:ext cx="875919" cy="597217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569596" y="3803494"/>
            <a:ext cx="406107" cy="406107"/>
          </a:xfrm>
          <a:prstGeom prst="ellipse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41262" y="3588496"/>
            <a:ext cx="262775" cy="89582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53424" y="4724400"/>
            <a:ext cx="1207770" cy="171450"/>
          </a:xfrm>
          <a:prstGeom prst="rect">
            <a:avLst/>
          </a:prstGeom>
          <a:solidFill>
            <a:srgbClr val="F7F5F0"/>
          </a:solidFill>
          <a:ln w="9525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3424" y="4752975"/>
            <a:ext cx="120777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60">
                <a:solidFill>
                  <a:srgbClr val="1A1714"/>
                </a:solidFill>
                <a:latin typeface="Inter"/>
              </a:rPr>
              <a:t>YOUR EVENT, 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7225" y="5076825"/>
            <a:ext cx="27813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A62"/>
                </a:solidFill>
                <a:latin typeface="Inter"/>
              </a:rPr>
              <a:t>Harbourfront · 11:48pm</a:t>
            </a:r>
          </a:p>
        </p:txBody>
      </p:sp>
      <p:sp>
        <p:nvSpPr>
          <p:cNvPr id="17" name="Oval 16"/>
          <p:cNvSpPr/>
          <p:nvPr/>
        </p:nvSpPr>
        <p:spPr>
          <a:xfrm>
            <a:off x="11172825" y="5086350"/>
            <a:ext cx="95250" cy="95250"/>
          </a:xfrm>
          <a:prstGeom prst="ellipse">
            <a:avLst/>
          </a:prstGeom>
          <a:noFill/>
          <a:ln w="14287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" y="61722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6257925"/>
            <a:ext cx="683408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867900" y="6248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A1714"/>
                </a:solidFill>
                <a:latin typeface="Fraunces"/>
              </a:rPr>
              <a:t>01</a:t>
            </a:r>
            <a:r>
              <a:rPr sz="1050" b="1" i="0">
                <a:solidFill>
                  <a:srgbClr val="6E6A62"/>
                </a:solidFill>
                <a:latin typeface="Fraunces"/>
              </a:rPr>
              <a:t>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0100" y="1590675"/>
            <a:ext cx="4476750" cy="3352800"/>
          </a:xfrm>
          <a:prstGeom prst="rect">
            <a:avLst/>
          </a:prstGeom>
          <a:solidFill>
            <a:srgbClr val="E4DFD5"/>
          </a:solidFill>
          <a:ln w="9525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04975"/>
            <a:ext cx="13335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704975"/>
            <a:ext cx="19050" cy="1333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" y="3076575"/>
            <a:ext cx="4476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25" b="1" i="0" spc="105">
                <a:solidFill>
                  <a:srgbClr val="9C978C"/>
                </a:solidFill>
                <a:latin typeface="Inter"/>
              </a:rPr>
              <a:t>ADD A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286125"/>
            <a:ext cx="447675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25" b="0" i="0">
                <a:solidFill>
                  <a:srgbClr val="9C978C"/>
                </a:solidFill>
                <a:latin typeface="Inter"/>
              </a:rPr>
              <a:t>a guest holding their print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1590675"/>
            <a:ext cx="4191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1724025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120">
                <a:solidFill>
                  <a:srgbClr val="1A1714"/>
                </a:solidFill>
                <a:latin typeface="Inter"/>
              </a:rPr>
              <a:t>WHY PRINTS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0" y="2047875"/>
            <a:ext cx="5524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4350" b="1" i="0" spc="-60">
                <a:solidFill>
                  <a:srgbClr val="1A1714"/>
                </a:solidFill>
                <a:latin typeface="Fraunces"/>
              </a:rPr>
              <a:t>We don't remember files. We remember </a:t>
            </a:r>
            <a:r>
              <a:rPr sz="4350" b="1" i="1" spc="-60">
                <a:solidFill>
                  <a:srgbClr val="1A1714"/>
                </a:solidFill>
                <a:latin typeface="Fraunces"/>
              </a:rPr>
              <a:t>objects.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4257675"/>
            <a:ext cx="44767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6E6A62"/>
                </a:solidFill>
                <a:latin typeface="Inter"/>
              </a:rPr>
              <a:t>Your guests will shoot a hundred photos tonight and never open them again. The one they can hold, they keep for years. A print is a memory with a body.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" y="61722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6257925"/>
            <a:ext cx="683408" cy="152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67900" y="6248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A1714"/>
                </a:solidFill>
                <a:latin typeface="Fraunces"/>
              </a:rPr>
              <a:t>02</a:t>
            </a:r>
            <a:r>
              <a:rPr sz="1050" b="1" i="0">
                <a:solidFill>
                  <a:srgbClr val="6E6A62"/>
                </a:solidFill>
                <a:latin typeface="Fraunces"/>
              </a:rPr>
              <a:t>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0100" y="1333500"/>
            <a:ext cx="4191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4668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120">
                <a:solidFill>
                  <a:srgbClr val="1A1714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714500"/>
            <a:ext cx="66675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50" b="1" i="0" spc="-52">
                <a:solidFill>
                  <a:srgbClr val="1A1714"/>
                </a:solidFill>
                <a:latin typeface="Fraunces"/>
              </a:rPr>
              <a:t>I run the whole booth.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6300" y="2857500"/>
            <a:ext cx="990599" cy="990599"/>
          </a:xfrm>
          <a:prstGeom prst="rect">
            <a:avLst/>
          </a:prstGeom>
          <a:noFill/>
          <a:ln w="14287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52800" y="2857500"/>
            <a:ext cx="990599" cy="990599"/>
          </a:xfrm>
          <a:prstGeom prst="rect">
            <a:avLst/>
          </a:prstGeom>
          <a:noFill/>
          <a:ln w="14287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29300" y="2857500"/>
            <a:ext cx="990599" cy="990599"/>
          </a:xfrm>
          <a:prstGeom prst="rect">
            <a:avLst/>
          </a:prstGeom>
          <a:noFill/>
          <a:ln w="14287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05800" y="2857500"/>
            <a:ext cx="990599" cy="990599"/>
          </a:xfrm>
          <a:prstGeom prst="rect">
            <a:avLst/>
          </a:prstGeom>
          <a:noFill/>
          <a:ln w="14287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943100" y="3352800"/>
            <a:ext cx="1333500" cy="0"/>
          </a:xfrm>
          <a:prstGeom prst="line">
            <a:avLst/>
          </a:prstGeom>
          <a:ln w="14287">
            <a:solidFill>
              <a:srgbClr val="9C978C"/>
            </a:solidFill>
            <a:tailEnd type="triangle" w="med" len="med"/>
          </a:ln>
          <a:effectLst/>
        </p:spPr>
      </p:cxnSp>
      <p:cxnSp>
        <p:nvCxnSpPr>
          <p:cNvPr id="10" name="Connector 9"/>
          <p:cNvCxnSpPr/>
          <p:nvPr/>
        </p:nvCxnSpPr>
        <p:spPr>
          <a:xfrm>
            <a:off x="4419600" y="3352800"/>
            <a:ext cx="1333500" cy="0"/>
          </a:xfrm>
          <a:prstGeom prst="line">
            <a:avLst/>
          </a:prstGeom>
          <a:ln w="14287">
            <a:solidFill>
              <a:srgbClr val="9C978C"/>
            </a:solidFill>
            <a:tailEnd type="triangle" w="med" len="med"/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6896100" y="3352800"/>
            <a:ext cx="1333500" cy="0"/>
          </a:xfrm>
          <a:prstGeom prst="line">
            <a:avLst/>
          </a:prstGeom>
          <a:ln w="14287">
            <a:solidFill>
              <a:srgbClr val="9C978C"/>
            </a:solidFill>
            <a:tailEnd type="triangle" w="med" len="med"/>
          </a:ln>
          <a:effectLst/>
        </p:spPr>
      </p:cxnSp>
      <p:sp>
        <p:nvSpPr>
          <p:cNvPr id="12" name="Rectangle 11"/>
          <p:cNvSpPr/>
          <p:nvPr/>
        </p:nvSpPr>
        <p:spPr>
          <a:xfrm>
            <a:off x="1181100" y="3162300"/>
            <a:ext cx="23812" cy="381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1100" y="3524250"/>
            <a:ext cx="381000" cy="23812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9500" y="3219450"/>
            <a:ext cx="457200" cy="323850"/>
          </a:xfrm>
          <a:prstGeom prst="rect">
            <a:avLst/>
          </a:prstGeom>
          <a:noFill/>
          <a:ln w="23812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762374" y="3305175"/>
            <a:ext cx="171450" cy="171450"/>
          </a:xfrm>
          <a:prstGeom prst="ellipse">
            <a:avLst/>
          </a:prstGeom>
          <a:noFill/>
          <a:ln w="23812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05224" y="3143250"/>
            <a:ext cx="209550" cy="76200"/>
          </a:xfrm>
          <a:prstGeom prst="rect">
            <a:avLst/>
          </a:prstGeom>
          <a:noFill/>
          <a:ln w="23812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1250" y="3048000"/>
            <a:ext cx="266700" cy="209550"/>
          </a:xfrm>
          <a:prstGeom prst="rect">
            <a:avLst/>
          </a:prstGeom>
          <a:noFill/>
          <a:ln w="23812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96000" y="3371850"/>
            <a:ext cx="457200" cy="285750"/>
          </a:xfrm>
          <a:prstGeom prst="rect">
            <a:avLst/>
          </a:prstGeom>
          <a:noFill/>
          <a:ln w="23812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1120000">
            <a:off x="8572500" y="3086100"/>
            <a:ext cx="457200" cy="533400"/>
          </a:xfrm>
          <a:prstGeom prst="rect">
            <a:avLst/>
          </a:prstGeom>
          <a:noFill/>
          <a:ln w="23812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4095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98">
                <a:solidFill>
                  <a:srgbClr val="1A1714"/>
                </a:solidFill>
                <a:latin typeface="Inter"/>
              </a:rPr>
              <a:t>YOUR CORNER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6300" y="428625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6E6A62"/>
                </a:solidFill>
                <a:latin typeface="Inter"/>
              </a:rPr>
              <a:t>a few sq. ft. + power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52800" y="4095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98">
                <a:solidFill>
                  <a:srgbClr val="1A1714"/>
                </a:solidFill>
                <a:latin typeface="Inter"/>
              </a:rPr>
              <a:t>I SHOOT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2800" y="428625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6E6A62"/>
                </a:solidFill>
                <a:latin typeface="Inter"/>
              </a:rPr>
              <a:t>camera + lighting, all 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0" y="4095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98">
                <a:solidFill>
                  <a:srgbClr val="1A1714"/>
                </a:solidFill>
                <a:latin typeface="Inter"/>
              </a:rPr>
              <a:t>PRINTS ON THE SPOT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9300" y="428625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6E6A62"/>
                </a:solidFill>
                <a:latin typeface="Inter"/>
              </a:rPr>
              <a:t>real film, about a minute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5800" y="4095750"/>
            <a:ext cx="1905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98">
                <a:solidFill>
                  <a:srgbClr val="1A1714"/>
                </a:solidFill>
                <a:latin typeface="Inter"/>
              </a:rPr>
              <a:t>THEY KEEP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5800" y="4286250"/>
            <a:ext cx="2095499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7" b="0" i="0">
                <a:solidFill>
                  <a:srgbClr val="6E6A62"/>
                </a:solidFill>
                <a:latin typeface="Inter"/>
              </a:rPr>
              <a:t>your event on the border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53600" y="3143250"/>
            <a:ext cx="1619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75" b="0" i="0">
                <a:solidFill>
                  <a:srgbClr val="6E6A62"/>
                </a:solidFill>
                <a:latin typeface="Inter"/>
              </a:rPr>
              <a:t>Your staff never touches any of 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" y="4838700"/>
            <a:ext cx="85725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6E6A62"/>
                </a:solidFill>
                <a:latin typeface="Inter"/>
              </a:rPr>
              <a:t>You give me a corner with power. I bring everything else and pack it all down at the end.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100" y="61722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6257925"/>
            <a:ext cx="683408" cy="1524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867900" y="6248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A1714"/>
                </a:solidFill>
                <a:latin typeface="Fraunces"/>
              </a:rPr>
              <a:t>03</a:t>
            </a:r>
            <a:r>
              <a:rPr sz="1050" b="1" i="0">
                <a:solidFill>
                  <a:srgbClr val="6E6A62"/>
                </a:solidFill>
                <a:latin typeface="Fraunces"/>
              </a:rPr>
              <a:t>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0100" y="1266825"/>
            <a:ext cx="4191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400175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120">
                <a:solidFill>
                  <a:srgbClr val="1A1714"/>
                </a:solidFill>
                <a:latin typeface="Inter"/>
              </a:rPr>
              <a:t>WHAT IT COSTS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590675"/>
            <a:ext cx="66675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b="1" i="0" spc="-105">
                <a:solidFill>
                  <a:srgbClr val="1A1714"/>
                </a:solidFill>
                <a:latin typeface="Fraunces"/>
              </a:rPr>
              <a:t>Nothing.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2809875"/>
            <a:ext cx="495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5" b="0" i="0">
                <a:solidFill>
                  <a:srgbClr val="6E6A62"/>
                </a:solidFill>
                <a:latin typeface="Inter"/>
              </a:rPr>
              <a:t>Your guests or a sponsor cover the prints. There are two ways to run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3743325"/>
            <a:ext cx="9525" cy="1428750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100" y="3743325"/>
            <a:ext cx="3429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" y="3895725"/>
            <a:ext cx="438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i="0" spc="-22">
                <a:solidFill>
                  <a:srgbClr val="1A1714"/>
                </a:solidFill>
                <a:latin typeface="Inter"/>
              </a:rPr>
              <a:t>Per 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" y="4276725"/>
            <a:ext cx="44767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E6A62"/>
                </a:solidFill>
                <a:latin typeface="Inter"/>
              </a:rPr>
              <a:t>Guests pay for their own prints on the spot, the way they'd buy anything else at your event.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3700" y="3743325"/>
            <a:ext cx="3429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3700" y="3895725"/>
            <a:ext cx="43815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i="0" spc="-22">
                <a:solidFill>
                  <a:srgbClr val="1A1714"/>
                </a:solidFill>
                <a:latin typeface="Inter"/>
              </a:rPr>
              <a:t>Sponsored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276725"/>
            <a:ext cx="447675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00" b="0" i="0">
                <a:solidFill>
                  <a:srgbClr val="6E6A62"/>
                </a:solidFill>
                <a:latin typeface="Inter"/>
              </a:rPr>
              <a:t>A sponsor covers a set number, so guests take them home free, with the sponsor's name on every print.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267325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A62"/>
                </a:solidFill>
                <a:latin typeface="Inter"/>
              </a:rPr>
              <a:t>I'll help you pick the one that fits your event.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" y="61722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6257925"/>
            <a:ext cx="683408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67900" y="6248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A1714"/>
                </a:solidFill>
                <a:latin typeface="Fraunces"/>
              </a:rPr>
              <a:t>04</a:t>
            </a:r>
            <a:r>
              <a:rPr sz="1050" b="1" i="0">
                <a:solidFill>
                  <a:srgbClr val="6E6A62"/>
                </a:solidFill>
                <a:latin typeface="Fraunces"/>
              </a:rPr>
              <a:t>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0100" y="1428750"/>
            <a:ext cx="4191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56210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120">
                <a:solidFill>
                  <a:srgbClr val="1A1714"/>
                </a:solidFill>
                <a:latin typeface="Inter"/>
              </a:rPr>
              <a:t>WHAT THEY TAKE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809750"/>
            <a:ext cx="7620000" cy="10477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450" b="1" i="0" spc="-52">
                <a:solidFill>
                  <a:srgbClr val="1A1714"/>
                </a:solidFill>
                <a:latin typeface="Fraunces"/>
              </a:rPr>
              <a:t>A real print. Your event on the border.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" y="2971800"/>
            <a:ext cx="2533650" cy="1946275"/>
          </a:xfrm>
          <a:prstGeom prst="rect">
            <a:avLst/>
          </a:prstGeom>
          <a:solidFill>
            <a:srgbClr val="FCFBF7"/>
          </a:solidFill>
          <a:ln w="9525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5825" y="3057525"/>
            <a:ext cx="2362200" cy="1574800"/>
          </a:xfrm>
          <a:prstGeom prst="rect">
            <a:avLst/>
          </a:prstGeom>
          <a:solidFill>
            <a:srgbClr val="E4DF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20469" y="3608705"/>
            <a:ext cx="692912" cy="472440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06295" y="3707917"/>
            <a:ext cx="321259" cy="321259"/>
          </a:xfrm>
          <a:prstGeom prst="ellipse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62988" y="3537839"/>
            <a:ext cx="207873" cy="70866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2024" y="4384675"/>
            <a:ext cx="819150" cy="171450"/>
          </a:xfrm>
          <a:prstGeom prst="rect">
            <a:avLst/>
          </a:prstGeom>
          <a:solidFill>
            <a:srgbClr val="F7F5F0"/>
          </a:solidFill>
          <a:ln w="9525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2024" y="4413250"/>
            <a:ext cx="8191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60">
                <a:solidFill>
                  <a:srgbClr val="1A1714"/>
                </a:solidFill>
                <a:latin typeface="Inter"/>
              </a:rPr>
              <a:t>YOUR 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4689475"/>
            <a:ext cx="2152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A62"/>
                </a:solidFill>
                <a:latin typeface="Inter"/>
              </a:rPr>
              <a:t>Front row · 9:42pm</a:t>
            </a:r>
          </a:p>
        </p:txBody>
      </p:sp>
      <p:sp>
        <p:nvSpPr>
          <p:cNvPr id="13" name="Oval 12"/>
          <p:cNvSpPr/>
          <p:nvPr/>
        </p:nvSpPr>
        <p:spPr>
          <a:xfrm>
            <a:off x="3152775" y="4699000"/>
            <a:ext cx="95250" cy="95250"/>
          </a:xfrm>
          <a:prstGeom prst="ellipse">
            <a:avLst/>
          </a:prstGeom>
          <a:noFill/>
          <a:ln w="14287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6150" y="2971800"/>
            <a:ext cx="2533650" cy="1946275"/>
          </a:xfrm>
          <a:prstGeom prst="rect">
            <a:avLst/>
          </a:prstGeom>
          <a:solidFill>
            <a:srgbClr val="FCFBF7"/>
          </a:solidFill>
          <a:ln w="9525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71875" y="3057525"/>
            <a:ext cx="2362200" cy="1574800"/>
          </a:xfrm>
          <a:prstGeom prst="rect">
            <a:avLst/>
          </a:prstGeom>
          <a:solidFill>
            <a:srgbClr val="E4DF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6519" y="3608705"/>
            <a:ext cx="692912" cy="472440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92345" y="3707917"/>
            <a:ext cx="321259" cy="321259"/>
          </a:xfrm>
          <a:prstGeom prst="ellipse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9038" y="3537839"/>
            <a:ext cx="207873" cy="70866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71875" y="4689475"/>
            <a:ext cx="2152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A62"/>
                </a:solidFill>
                <a:latin typeface="Inter"/>
              </a:rPr>
              <a:t>The line, all night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971800"/>
            <a:ext cx="2533650" cy="1946275"/>
          </a:xfrm>
          <a:prstGeom prst="rect">
            <a:avLst/>
          </a:prstGeom>
          <a:solidFill>
            <a:srgbClr val="FCFBF7"/>
          </a:solidFill>
          <a:ln w="9525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57925" y="3057525"/>
            <a:ext cx="2362200" cy="1574800"/>
          </a:xfrm>
          <a:prstGeom prst="rect">
            <a:avLst/>
          </a:prstGeom>
          <a:solidFill>
            <a:srgbClr val="E4DF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92569" y="3608705"/>
            <a:ext cx="692912" cy="472440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78395" y="3707917"/>
            <a:ext cx="321259" cy="321259"/>
          </a:xfrm>
          <a:prstGeom prst="ellipse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35088" y="3537839"/>
            <a:ext cx="207873" cy="70866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57925" y="4689475"/>
            <a:ext cx="2152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A62"/>
                </a:solidFill>
                <a:latin typeface="Inter"/>
              </a:rPr>
              <a:t>Two strangers, now friends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58250" y="2971800"/>
            <a:ext cx="2533650" cy="1946275"/>
          </a:xfrm>
          <a:prstGeom prst="rect">
            <a:avLst/>
          </a:prstGeom>
          <a:solidFill>
            <a:srgbClr val="FCFBF7"/>
          </a:solidFill>
          <a:ln w="9525">
            <a:solidFill>
              <a:srgbClr val="D2CCB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43975" y="3057525"/>
            <a:ext cx="2362200" cy="1574800"/>
          </a:xfrm>
          <a:prstGeom prst="rect">
            <a:avLst/>
          </a:prstGeom>
          <a:solidFill>
            <a:srgbClr val="E4DFD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78618" y="3608705"/>
            <a:ext cx="692912" cy="472440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964445" y="3707917"/>
            <a:ext cx="321259" cy="321259"/>
          </a:xfrm>
          <a:prstGeom prst="ellipse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21138" y="3537839"/>
            <a:ext cx="207873" cy="70866"/>
          </a:xfrm>
          <a:prstGeom prst="rect">
            <a:avLst/>
          </a:prstGeom>
          <a:noFill/>
          <a:ln w="12382">
            <a:solidFill>
              <a:srgbClr val="9C97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20175" y="4384675"/>
            <a:ext cx="819150" cy="171450"/>
          </a:xfrm>
          <a:prstGeom prst="rect">
            <a:avLst/>
          </a:prstGeom>
          <a:solidFill>
            <a:srgbClr val="F7F5F0"/>
          </a:solidFill>
          <a:ln w="9525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20175" y="4413250"/>
            <a:ext cx="819150" cy="133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60">
                <a:solidFill>
                  <a:srgbClr val="1A1714"/>
                </a:solidFill>
                <a:latin typeface="Inter"/>
              </a:rPr>
              <a:t>YOUR EVENT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43975" y="4689475"/>
            <a:ext cx="215265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6A62"/>
                </a:solidFill>
                <a:latin typeface="Inter"/>
              </a:rPr>
              <a:t>Last dance · 1:10am</a:t>
            </a:r>
          </a:p>
        </p:txBody>
      </p:sp>
      <p:sp>
        <p:nvSpPr>
          <p:cNvPr id="34" name="Oval 33"/>
          <p:cNvSpPr/>
          <p:nvPr/>
        </p:nvSpPr>
        <p:spPr>
          <a:xfrm>
            <a:off x="11210925" y="4699000"/>
            <a:ext cx="95250" cy="95250"/>
          </a:xfrm>
          <a:prstGeom prst="ellipse">
            <a:avLst/>
          </a:prstGeom>
          <a:noFill/>
          <a:ln w="14287">
            <a:solidFill>
              <a:srgbClr val="1A171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0100" y="51054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6E6A62"/>
                </a:solidFill>
                <a:latin typeface="Inter"/>
              </a:rPr>
              <a:t>Swap these for shots from your room, your crowd, your night.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100" y="61722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6257925"/>
            <a:ext cx="683408" cy="1524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867900" y="6248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A1714"/>
                </a:solidFill>
                <a:latin typeface="Fraunces"/>
              </a:rPr>
              <a:t>05</a:t>
            </a:r>
            <a:r>
              <a:rPr sz="1050" b="1" i="0">
                <a:solidFill>
                  <a:srgbClr val="6E6A62"/>
                </a:solidFill>
                <a:latin typeface="Fraunces"/>
              </a:rPr>
              <a:t>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0100" y="1143000"/>
            <a:ext cx="419100" cy="190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100" y="1276350"/>
            <a:ext cx="571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75" b="1" i="0" spc="120">
                <a:solidFill>
                  <a:srgbClr val="1A1714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100" y="1581150"/>
            <a:ext cx="8001000" cy="1619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4800" b="1" i="0" spc="-90">
                <a:solidFill>
                  <a:srgbClr val="1A1714"/>
                </a:solidFill>
                <a:latin typeface="Fraunces"/>
              </a:rPr>
              <a:t>Give me a corner. I'll handle the rest. </a:t>
            </a:r>
            <a:r>
              <a:rPr sz="4800" b="1" i="0" spc="-90">
                <a:solidFill>
                  <a:srgbClr val="1A1714"/>
                </a:solidFill>
                <a:latin typeface="Fraunces"/>
              </a:rPr>
              <a:t>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3048000"/>
            <a:ext cx="7810499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6E6A62"/>
                </a:solidFill>
                <a:latin typeface="Inter"/>
              </a:rPr>
              <a:t>Tell me about your event and I'll come back within a day with dates and a price. No deposit to ask.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382905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714"/>
                </a:solidFill>
                <a:latin typeface="Inter"/>
              </a:rPr>
              <a:t>hello@futurenostalgia.ca</a:t>
            </a:r>
          </a:p>
        </p:txBody>
      </p:sp>
      <p:sp>
        <p:nvSpPr>
          <p:cNvPr id="7" name="Rectangle 6"/>
          <p:cNvSpPr/>
          <p:nvPr/>
        </p:nvSpPr>
        <p:spPr>
          <a:xfrm>
            <a:off x="3025140" y="3848099"/>
            <a:ext cx="9525" cy="171450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29940" y="3829050"/>
            <a:ext cx="16687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714"/>
                </a:solidFill>
                <a:latin typeface="Inter"/>
              </a:rPr>
              <a:t>futurenostalgia.ca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3848099"/>
            <a:ext cx="9525" cy="171450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79720" y="3829050"/>
            <a:ext cx="15887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A1714"/>
                </a:solidFill>
                <a:latin typeface="Inter"/>
              </a:rPr>
              <a:t>@future.nostalgia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" y="43053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about-fam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20000">
            <a:off x="800100" y="4514850"/>
            <a:ext cx="990599" cy="7891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038349" y="4572000"/>
            <a:ext cx="6858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1" i="0">
                <a:solidFill>
                  <a:srgbClr val="6E6A62"/>
                </a:solidFill>
                <a:latin typeface="Inter"/>
              </a:rPr>
              <a:t>I'm Josh Gonzales.</a:t>
            </a:r>
            <a:r>
              <a:rPr sz="1050" b="0" i="0">
                <a:solidFill>
                  <a:srgbClr val="6E6A62"/>
                </a:solidFill>
                <a:latin typeface="Inter"/>
              </a:rPr>
              <a:t> I started future.nostalgia for my own family, because the photos we keep are the ones we can hold. A share of every event goes to brain research — the science of why a photograph is worth keeping at all.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" y="6172200"/>
            <a:ext cx="10591800" cy="9525"/>
          </a:xfrm>
          <a:prstGeom prst="rect">
            <a:avLst/>
          </a:prstGeom>
          <a:solidFill>
            <a:srgbClr val="E2DD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wordmark-bl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6257925"/>
            <a:ext cx="683408" cy="152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67900" y="6248400"/>
            <a:ext cx="1524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50" b="1" i="0">
                <a:solidFill>
                  <a:srgbClr val="1A1714"/>
                </a:solidFill>
                <a:latin typeface="Fraunces"/>
              </a:rPr>
              <a:t>06</a:t>
            </a:r>
            <a:r>
              <a:rPr sz="1050" b="1" i="0">
                <a:solidFill>
                  <a:srgbClr val="6E6A62"/>
                </a:solidFill>
                <a:latin typeface="Fraunces"/>
              </a:rPr>
              <a:t>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