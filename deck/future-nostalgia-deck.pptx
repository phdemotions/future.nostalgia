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314450"/>
            <a:ext cx="1964798" cy="4381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100" y="1981199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 spc="120">
                <a:solidFill>
                  <a:srgbClr val="2B5B5D"/>
                </a:solidFill>
                <a:latin typeface="Inter"/>
              </a:rPr>
              <a:t>ANALOG PHOTO BOOTH FOR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2324100"/>
            <a:ext cx="5334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550" b="1" spc="-105">
                <a:solidFill>
                  <a:srgbClr val="2D2D2A"/>
                </a:solidFill>
                <a:latin typeface="Jost"/>
              </a:rPr>
              <a:t>Photos your guests actually keep.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4762500"/>
            <a:ext cx="54768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A5A55"/>
                </a:solidFill>
                <a:latin typeface="Inter"/>
              </a:rPr>
              <a:t>I bring an analog print booth to your event and run the whole night. Every guest walks out with a real photograph in their hand.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58483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5A5A55"/>
                </a:solidFill>
                <a:latin typeface="Inter"/>
              </a:rPr>
              <a:t>futurenostalgia.ca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5050" y="5867400"/>
            <a:ext cx="9525" cy="152400"/>
          </a:xfrm>
          <a:prstGeom prst="rect">
            <a:avLst/>
          </a:prstGeom>
          <a:solidFill>
            <a:srgbClr val="D1D1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7450" y="584835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5A5A55"/>
                </a:solidFill>
                <a:latin typeface="Inter"/>
              </a:rPr>
              <a:t>Festivals, hotels &amp; events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3399" y="2857500"/>
            <a:ext cx="3238500" cy="2495550"/>
          </a:xfrm>
          <a:prstGeom prst="rect">
            <a:avLst/>
          </a:prstGeom>
          <a:solidFill>
            <a:srgbClr val="FBF8F1"/>
          </a:solidFill>
          <a:ln w="9525">
            <a:solidFill>
              <a:srgbClr val="C5C2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77225" y="2981325"/>
            <a:ext cx="2990850" cy="1990725"/>
          </a:xfrm>
          <a:prstGeom prst="rect">
            <a:avLst/>
          </a:prstGeom>
          <a:solidFill>
            <a:srgbClr val="CDD4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53424" y="4724400"/>
            <a:ext cx="1207770" cy="171450"/>
          </a:xfrm>
          <a:prstGeom prst="rect">
            <a:avLst/>
          </a:prstGeom>
          <a:solidFill>
            <a:srgbClr val="F4F1EA"/>
          </a:solidFill>
          <a:ln w="9525">
            <a:solidFill>
              <a:srgbClr val="2B5B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3424" y="4752975"/>
            <a:ext cx="120777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spc="60">
                <a:solidFill>
                  <a:srgbClr val="2B5B5D"/>
                </a:solidFill>
                <a:latin typeface="Inter"/>
              </a:rPr>
              <a:t>YOUR EVENT,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7225" y="5076825"/>
            <a:ext cx="2781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5A55"/>
                </a:solidFill>
                <a:latin typeface="Inter"/>
              </a:rPr>
              <a:t>Harbourfront · 11:48pm</a:t>
            </a:r>
          </a:p>
        </p:txBody>
      </p:sp>
      <p:sp>
        <p:nvSpPr>
          <p:cNvPr id="14" name="Oval 13"/>
          <p:cNvSpPr/>
          <p:nvPr/>
        </p:nvSpPr>
        <p:spPr>
          <a:xfrm>
            <a:off x="11172825" y="5086350"/>
            <a:ext cx="95250" cy="95250"/>
          </a:xfrm>
          <a:prstGeom prst="ellipse">
            <a:avLst/>
          </a:prstGeom>
          <a:noFill/>
          <a:ln w="14287">
            <a:solidFill>
              <a:srgbClr val="2B5B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" y="6172200"/>
            <a:ext cx="10591800" cy="9525"/>
          </a:xfrm>
          <a:prstGeom prst="rect">
            <a:avLst/>
          </a:prstGeom>
          <a:solidFill>
            <a:srgbClr val="D1D1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6257925"/>
            <a:ext cx="683408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67900" y="624840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2B5B5D"/>
                </a:solidFill>
                <a:latin typeface="Jost"/>
              </a:rPr>
              <a:t>01</a:t>
            </a:r>
            <a:r>
              <a:rPr sz="1050" b="1">
                <a:solidFill>
                  <a:srgbClr val="5A5A55"/>
                </a:solidFill>
                <a:latin typeface="Jost"/>
              </a:rPr>
              <a:t>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0100" y="1590675"/>
            <a:ext cx="4476750" cy="3352800"/>
          </a:xfrm>
          <a:prstGeom prst="rect">
            <a:avLst/>
          </a:prstGeom>
          <a:solidFill>
            <a:srgbClr val="CDD4CE"/>
          </a:solidFill>
          <a:ln w="9525">
            <a:solidFill>
              <a:srgbClr val="C5C2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704975"/>
            <a:ext cx="133350" cy="19050"/>
          </a:xfrm>
          <a:prstGeom prst="rect">
            <a:avLst/>
          </a:prstGeom>
          <a:solidFill>
            <a:srgbClr val="2B5B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704975"/>
            <a:ext cx="19050" cy="133350"/>
          </a:xfrm>
          <a:prstGeom prst="rect">
            <a:avLst/>
          </a:prstGeom>
          <a:solidFill>
            <a:srgbClr val="2B5B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" y="3076575"/>
            <a:ext cx="4476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25" b="1" spc="105">
                <a:solidFill>
                  <a:srgbClr val="9A988F"/>
                </a:solidFill>
                <a:latin typeface="Inter"/>
              </a:rPr>
              <a:t>ADD A PHOTO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286125"/>
            <a:ext cx="4476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25" b="0">
                <a:solidFill>
                  <a:srgbClr val="9A988F"/>
                </a:solidFill>
                <a:latin typeface="Inter"/>
              </a:rPr>
              <a:t>a guest holding their print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1590675"/>
            <a:ext cx="419100" cy="19050"/>
          </a:xfrm>
          <a:prstGeom prst="rect">
            <a:avLst/>
          </a:prstGeom>
          <a:solidFill>
            <a:srgbClr val="2B5B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724025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 spc="120">
                <a:solidFill>
                  <a:srgbClr val="2B5B5D"/>
                </a:solidFill>
                <a:latin typeface="Inter"/>
              </a:rPr>
              <a:t>WHY PRINTS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2047875"/>
            <a:ext cx="5524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350" b="1" spc="-60">
                <a:solidFill>
                  <a:srgbClr val="2D2D2A"/>
                </a:solidFill>
                <a:latin typeface="Jost"/>
              </a:rPr>
              <a:t>We don't remember files. We remember </a:t>
            </a:r>
            <a:r>
              <a:rPr sz="4350" b="1" spc="-60">
                <a:solidFill>
                  <a:srgbClr val="FF5A36"/>
                </a:solidFill>
                <a:latin typeface="Jost"/>
              </a:rPr>
              <a:t>objects.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4257675"/>
            <a:ext cx="44767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5A5A55"/>
                </a:solidFill>
                <a:latin typeface="Inter"/>
              </a:rPr>
              <a:t>Your guests will shoot a hundred photos tonight and never open them again. The one they can hold, they keep for years. A print is a memory with a body.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" y="6172200"/>
            <a:ext cx="10591800" cy="9525"/>
          </a:xfrm>
          <a:prstGeom prst="rect">
            <a:avLst/>
          </a:prstGeom>
          <a:solidFill>
            <a:srgbClr val="D1D1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6257925"/>
            <a:ext cx="683408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67900" y="624840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2B5B5D"/>
                </a:solidFill>
                <a:latin typeface="Jost"/>
              </a:rPr>
              <a:t>02</a:t>
            </a:r>
            <a:r>
              <a:rPr sz="1050" b="1">
                <a:solidFill>
                  <a:srgbClr val="5A5A55"/>
                </a:solidFill>
                <a:latin typeface="Jost"/>
              </a:rPr>
              <a:t>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0100" y="1333500"/>
            <a:ext cx="419100" cy="19050"/>
          </a:xfrm>
          <a:prstGeom prst="rect">
            <a:avLst/>
          </a:prstGeom>
          <a:solidFill>
            <a:srgbClr val="2B5B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14668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 spc="120">
                <a:solidFill>
                  <a:srgbClr val="2B5B5D"/>
                </a:solidFill>
                <a:latin typeface="Inter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714500"/>
            <a:ext cx="6667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1" spc="-52">
                <a:solidFill>
                  <a:srgbClr val="2D2D2A"/>
                </a:solidFill>
                <a:latin typeface="Jost"/>
              </a:rPr>
              <a:t>I run the whole booth.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876300" y="2857500"/>
            <a:ext cx="990599" cy="990599"/>
          </a:xfrm>
          <a:prstGeom prst="rect">
            <a:avLst/>
          </a:prstGeom>
          <a:noFill/>
          <a:ln w="14287">
            <a:solidFill>
              <a:srgbClr val="C5C2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52800" y="2857500"/>
            <a:ext cx="990599" cy="990599"/>
          </a:xfrm>
          <a:prstGeom prst="rect">
            <a:avLst/>
          </a:prstGeom>
          <a:noFill/>
          <a:ln w="14287">
            <a:solidFill>
              <a:srgbClr val="C5C2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29300" y="2857500"/>
            <a:ext cx="990599" cy="990599"/>
          </a:xfrm>
          <a:prstGeom prst="rect">
            <a:avLst/>
          </a:prstGeom>
          <a:noFill/>
          <a:ln w="14287">
            <a:solidFill>
              <a:srgbClr val="C5C2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05800" y="2857500"/>
            <a:ext cx="990599" cy="990599"/>
          </a:xfrm>
          <a:prstGeom prst="rect">
            <a:avLst/>
          </a:prstGeom>
          <a:noFill/>
          <a:ln w="14287">
            <a:solidFill>
              <a:srgbClr val="C5C2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943100" y="3352800"/>
            <a:ext cx="1333500" cy="0"/>
          </a:xfrm>
          <a:prstGeom prst="line">
            <a:avLst/>
          </a:prstGeom>
          <a:ln w="14287">
            <a:solidFill>
              <a:srgbClr val="9A988F"/>
            </a:solidFill>
            <a:tailEnd type="triangle" w="med" len="med"/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4419600" y="3352800"/>
            <a:ext cx="1333500" cy="0"/>
          </a:xfrm>
          <a:prstGeom prst="line">
            <a:avLst/>
          </a:prstGeom>
          <a:ln w="14287">
            <a:solidFill>
              <a:srgbClr val="9A988F"/>
            </a:solidFill>
            <a:tailEnd type="triangle" w="med" len="med"/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6896100" y="3352800"/>
            <a:ext cx="1333500" cy="0"/>
          </a:xfrm>
          <a:prstGeom prst="line">
            <a:avLst/>
          </a:prstGeom>
          <a:ln w="14287">
            <a:solidFill>
              <a:srgbClr val="9A988F"/>
            </a:solidFill>
            <a:tailEnd type="triangle" w="med" len="med"/>
          </a:ln>
          <a:effectLst/>
        </p:spPr>
      </p:cxnSp>
      <p:sp>
        <p:nvSpPr>
          <p:cNvPr id="12" name="Rectangle 11"/>
          <p:cNvSpPr/>
          <p:nvPr/>
        </p:nvSpPr>
        <p:spPr>
          <a:xfrm>
            <a:off x="1181100" y="3162300"/>
            <a:ext cx="23812" cy="381000"/>
          </a:xfrm>
          <a:prstGeom prst="rect">
            <a:avLst/>
          </a:prstGeom>
          <a:solidFill>
            <a:srgbClr val="2B5B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1100" y="3524250"/>
            <a:ext cx="381000" cy="23812"/>
          </a:xfrm>
          <a:prstGeom prst="rect">
            <a:avLst/>
          </a:prstGeom>
          <a:solidFill>
            <a:srgbClr val="2B5B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9500" y="3219450"/>
            <a:ext cx="457200" cy="323850"/>
          </a:xfrm>
          <a:prstGeom prst="rect">
            <a:avLst/>
          </a:prstGeom>
          <a:noFill/>
          <a:ln w="23812">
            <a:solidFill>
              <a:srgbClr val="2B5B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62374" y="3305175"/>
            <a:ext cx="171450" cy="171450"/>
          </a:xfrm>
          <a:prstGeom prst="ellipse">
            <a:avLst/>
          </a:prstGeom>
          <a:noFill/>
          <a:ln w="23812">
            <a:solidFill>
              <a:srgbClr val="2B5B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05224" y="3143250"/>
            <a:ext cx="209550" cy="76200"/>
          </a:xfrm>
          <a:prstGeom prst="rect">
            <a:avLst/>
          </a:prstGeom>
          <a:noFill/>
          <a:ln w="23812">
            <a:solidFill>
              <a:srgbClr val="2B5B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1250" y="3048000"/>
            <a:ext cx="266700" cy="209550"/>
          </a:xfrm>
          <a:prstGeom prst="rect">
            <a:avLst/>
          </a:prstGeom>
          <a:noFill/>
          <a:ln w="23812">
            <a:solidFill>
              <a:srgbClr val="2B5B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0" y="3371850"/>
            <a:ext cx="457200" cy="285750"/>
          </a:xfrm>
          <a:prstGeom prst="rect">
            <a:avLst/>
          </a:prstGeom>
          <a:noFill/>
          <a:ln w="23812">
            <a:solidFill>
              <a:srgbClr val="2B5B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1120000">
            <a:off x="8572500" y="3086100"/>
            <a:ext cx="457200" cy="533400"/>
          </a:xfrm>
          <a:prstGeom prst="rect">
            <a:avLst/>
          </a:prstGeom>
          <a:noFill/>
          <a:ln w="23812">
            <a:solidFill>
              <a:srgbClr val="FF5A3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6300" y="409575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 spc="98">
                <a:solidFill>
                  <a:srgbClr val="2D2D2A"/>
                </a:solidFill>
                <a:latin typeface="Inter"/>
              </a:rPr>
              <a:t>YOUR CORNER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4286250"/>
            <a:ext cx="209549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>
                <a:solidFill>
                  <a:srgbClr val="5A5A55"/>
                </a:solidFill>
                <a:latin typeface="Inter"/>
              </a:rPr>
              <a:t>a few sq. ft. + power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2800" y="409575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 spc="98">
                <a:solidFill>
                  <a:srgbClr val="2D2D2A"/>
                </a:solidFill>
                <a:latin typeface="Inter"/>
              </a:rPr>
              <a:t>I SHOOT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2800" y="4286250"/>
            <a:ext cx="209549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>
                <a:solidFill>
                  <a:srgbClr val="5A5A55"/>
                </a:solidFill>
                <a:latin typeface="Inter"/>
              </a:rPr>
              <a:t>camera + lighting, all mine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9300" y="409575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 spc="98">
                <a:solidFill>
                  <a:srgbClr val="2D2D2A"/>
                </a:solidFill>
                <a:latin typeface="Inter"/>
              </a:rPr>
              <a:t>PRINTS ON THE SPOT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29300" y="4286250"/>
            <a:ext cx="209549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>
                <a:solidFill>
                  <a:srgbClr val="5A5A55"/>
                </a:solidFill>
                <a:latin typeface="Inter"/>
              </a:rPr>
              <a:t>real film, about a minute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5800" y="409575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 spc="98">
                <a:solidFill>
                  <a:srgbClr val="2D2D2A"/>
                </a:solidFill>
                <a:latin typeface="Inter"/>
              </a:rPr>
              <a:t>THEY KEEP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5800" y="4286250"/>
            <a:ext cx="209549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>
                <a:solidFill>
                  <a:srgbClr val="5A5A55"/>
                </a:solidFill>
                <a:latin typeface="Inter"/>
              </a:rPr>
              <a:t>your event on the border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3600" y="3143250"/>
            <a:ext cx="1619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75" b="0">
                <a:solidFill>
                  <a:srgbClr val="5A5A55"/>
                </a:solidFill>
                <a:latin typeface="Inter"/>
              </a:rPr>
              <a:t>Your staff never touches any of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4838700"/>
            <a:ext cx="8572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5A5A55"/>
                </a:solidFill>
                <a:latin typeface="Inter"/>
              </a:rPr>
              <a:t>You give me a corner with power. I bring everything else and pack it all down at the end.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" y="6172200"/>
            <a:ext cx="10591800" cy="9525"/>
          </a:xfrm>
          <a:prstGeom prst="rect">
            <a:avLst/>
          </a:prstGeom>
          <a:solidFill>
            <a:srgbClr val="D1D1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6257925"/>
            <a:ext cx="683408" cy="152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867900" y="624840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2B5B5D"/>
                </a:solidFill>
                <a:latin typeface="Jost"/>
              </a:rPr>
              <a:t>03</a:t>
            </a:r>
            <a:r>
              <a:rPr sz="1050" b="1">
                <a:solidFill>
                  <a:srgbClr val="5A5A55"/>
                </a:solidFill>
                <a:latin typeface="Jost"/>
              </a:rPr>
              <a:t>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0100" y="1266825"/>
            <a:ext cx="419100" cy="19050"/>
          </a:xfrm>
          <a:prstGeom prst="rect">
            <a:avLst/>
          </a:prstGeom>
          <a:solidFill>
            <a:srgbClr val="2B5B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1400175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 spc="120">
                <a:solidFill>
                  <a:srgbClr val="2B5B5D"/>
                </a:solidFill>
                <a:latin typeface="Inter"/>
              </a:rPr>
              <a:t>WHAT IT COSTS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590675"/>
            <a:ext cx="66675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b="1" spc="-105">
                <a:solidFill>
                  <a:srgbClr val="2D2D2A"/>
                </a:solidFill>
                <a:latin typeface="Jost"/>
              </a:rPr>
              <a:t>Nothing.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809875"/>
            <a:ext cx="495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0">
                <a:solidFill>
                  <a:srgbClr val="5A5A55"/>
                </a:solidFill>
                <a:latin typeface="Inter"/>
              </a:rPr>
              <a:t>Your guests or a sponsor cover the prints. There are two ways to run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3743325"/>
            <a:ext cx="9525" cy="1428750"/>
          </a:xfrm>
          <a:prstGeom prst="rect">
            <a:avLst/>
          </a:prstGeom>
          <a:solidFill>
            <a:srgbClr val="D1D1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" y="3743325"/>
            <a:ext cx="342900" cy="19050"/>
          </a:xfrm>
          <a:prstGeom prst="rect">
            <a:avLst/>
          </a:prstGeom>
          <a:solidFill>
            <a:srgbClr val="2B5B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3895725"/>
            <a:ext cx="4381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-22">
                <a:solidFill>
                  <a:srgbClr val="2D2D2A"/>
                </a:solidFill>
                <a:latin typeface="Inter"/>
              </a:rPr>
              <a:t>Per 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4276725"/>
            <a:ext cx="44767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5A5A55"/>
                </a:solidFill>
                <a:latin typeface="Inter"/>
              </a:rPr>
              <a:t>Guests pay for their own prints on the spot, the way they'd buy anything else at your event.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43700" y="3743325"/>
            <a:ext cx="342900" cy="1905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43700" y="3895725"/>
            <a:ext cx="4381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-22">
                <a:solidFill>
                  <a:srgbClr val="2D2D2A"/>
                </a:solidFill>
                <a:latin typeface="Inter"/>
              </a:rPr>
              <a:t>Sponsored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3700" y="4276725"/>
            <a:ext cx="44767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5A5A55"/>
                </a:solidFill>
                <a:latin typeface="Inter"/>
              </a:rPr>
              <a:t>A sponsor covers a set number, so guests take them home free, with the sponsor's name on every print.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5267325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5A55"/>
                </a:solidFill>
                <a:latin typeface="Inter"/>
              </a:rPr>
              <a:t>I'll help you pick the one that fits your event.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" y="6172200"/>
            <a:ext cx="10591800" cy="9525"/>
          </a:xfrm>
          <a:prstGeom prst="rect">
            <a:avLst/>
          </a:prstGeom>
          <a:solidFill>
            <a:srgbClr val="D1D1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6257925"/>
            <a:ext cx="683408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67900" y="624840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2B5B5D"/>
                </a:solidFill>
                <a:latin typeface="Jost"/>
              </a:rPr>
              <a:t>04</a:t>
            </a:r>
            <a:r>
              <a:rPr sz="1050" b="1">
                <a:solidFill>
                  <a:srgbClr val="5A5A55"/>
                </a:solidFill>
                <a:latin typeface="Jost"/>
              </a:rPr>
              <a:t>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0100" y="1428750"/>
            <a:ext cx="419100" cy="19050"/>
          </a:xfrm>
          <a:prstGeom prst="rect">
            <a:avLst/>
          </a:prstGeom>
          <a:solidFill>
            <a:srgbClr val="2B5B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15621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 spc="120">
                <a:solidFill>
                  <a:srgbClr val="2B5B5D"/>
                </a:solidFill>
                <a:latin typeface="Inter"/>
              </a:rPr>
              <a:t>WHAT THEY TAKE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809750"/>
            <a:ext cx="7620000" cy="104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50" b="1" spc="-52">
                <a:solidFill>
                  <a:srgbClr val="2D2D2A"/>
                </a:solidFill>
                <a:latin typeface="Jost"/>
              </a:rPr>
              <a:t>A real print. Your event on the border.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2971800"/>
            <a:ext cx="2533650" cy="1946275"/>
          </a:xfrm>
          <a:prstGeom prst="rect">
            <a:avLst/>
          </a:prstGeom>
          <a:solidFill>
            <a:srgbClr val="FBF8F1"/>
          </a:solidFill>
          <a:ln w="9525">
            <a:solidFill>
              <a:srgbClr val="C5C2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5825" y="3057525"/>
            <a:ext cx="2362200" cy="1574800"/>
          </a:xfrm>
          <a:prstGeom prst="rect">
            <a:avLst/>
          </a:prstGeom>
          <a:solidFill>
            <a:srgbClr val="CDD4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2024" y="4384675"/>
            <a:ext cx="819150" cy="171450"/>
          </a:xfrm>
          <a:prstGeom prst="rect">
            <a:avLst/>
          </a:prstGeom>
          <a:solidFill>
            <a:srgbClr val="F4F1EA"/>
          </a:solidFill>
          <a:ln w="9525">
            <a:solidFill>
              <a:srgbClr val="2B5B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2024" y="4413250"/>
            <a:ext cx="8191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spc="60">
                <a:solidFill>
                  <a:srgbClr val="2B5B5D"/>
                </a:solidFill>
                <a:latin typeface="Inter"/>
              </a:rPr>
              <a:t>YOUR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689475"/>
            <a:ext cx="2152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5A55"/>
                </a:solidFill>
                <a:latin typeface="Inter"/>
              </a:rPr>
              <a:t>Front row · 9:42pm</a:t>
            </a:r>
          </a:p>
        </p:txBody>
      </p:sp>
      <p:sp>
        <p:nvSpPr>
          <p:cNvPr id="10" name="Oval 9"/>
          <p:cNvSpPr/>
          <p:nvPr/>
        </p:nvSpPr>
        <p:spPr>
          <a:xfrm>
            <a:off x="3152775" y="4699000"/>
            <a:ext cx="95250" cy="95250"/>
          </a:xfrm>
          <a:prstGeom prst="ellipse">
            <a:avLst/>
          </a:prstGeom>
          <a:noFill/>
          <a:ln w="14287">
            <a:solidFill>
              <a:srgbClr val="2B5B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86150" y="2971800"/>
            <a:ext cx="2533650" cy="1946275"/>
          </a:xfrm>
          <a:prstGeom prst="rect">
            <a:avLst/>
          </a:prstGeom>
          <a:solidFill>
            <a:srgbClr val="FBF8F1"/>
          </a:solidFill>
          <a:ln w="9525">
            <a:solidFill>
              <a:srgbClr val="C5C2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71875" y="3057525"/>
            <a:ext cx="2362200" cy="1574800"/>
          </a:xfrm>
          <a:prstGeom prst="rect">
            <a:avLst/>
          </a:prstGeom>
          <a:solidFill>
            <a:srgbClr val="CDD4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1875" y="4689475"/>
            <a:ext cx="2152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5A55"/>
                </a:solidFill>
                <a:latin typeface="Inter"/>
              </a:rPr>
              <a:t>The line, all night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971800"/>
            <a:ext cx="2533650" cy="1946275"/>
          </a:xfrm>
          <a:prstGeom prst="rect">
            <a:avLst/>
          </a:prstGeom>
          <a:solidFill>
            <a:srgbClr val="FBF8F1"/>
          </a:solidFill>
          <a:ln w="9525">
            <a:solidFill>
              <a:srgbClr val="C5C2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7925" y="3057525"/>
            <a:ext cx="2362200" cy="1574800"/>
          </a:xfrm>
          <a:prstGeom prst="rect">
            <a:avLst/>
          </a:prstGeom>
          <a:solidFill>
            <a:srgbClr val="CDD4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7925" y="4689475"/>
            <a:ext cx="2152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5A55"/>
                </a:solidFill>
                <a:latin typeface="Inter"/>
              </a:rPr>
              <a:t>Two strangers, now friends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58250" y="2971800"/>
            <a:ext cx="2533650" cy="1946275"/>
          </a:xfrm>
          <a:prstGeom prst="rect">
            <a:avLst/>
          </a:prstGeom>
          <a:solidFill>
            <a:srgbClr val="FBF8F1"/>
          </a:solidFill>
          <a:ln w="9525">
            <a:solidFill>
              <a:srgbClr val="C5C2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43975" y="3057525"/>
            <a:ext cx="2362200" cy="1574800"/>
          </a:xfrm>
          <a:prstGeom prst="rect">
            <a:avLst/>
          </a:prstGeom>
          <a:solidFill>
            <a:srgbClr val="CDD4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20175" y="4384675"/>
            <a:ext cx="819150" cy="171450"/>
          </a:xfrm>
          <a:prstGeom prst="rect">
            <a:avLst/>
          </a:prstGeom>
          <a:solidFill>
            <a:srgbClr val="F4F1EA"/>
          </a:solidFill>
          <a:ln w="9525">
            <a:solidFill>
              <a:srgbClr val="2B5B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0175" y="4413250"/>
            <a:ext cx="8191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spc="60">
                <a:solidFill>
                  <a:srgbClr val="2B5B5D"/>
                </a:solidFill>
                <a:latin typeface="Inter"/>
              </a:rPr>
              <a:t>YOUR 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3975" y="4689475"/>
            <a:ext cx="2152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5A55"/>
                </a:solidFill>
                <a:latin typeface="Inter"/>
              </a:rPr>
              <a:t>Last dance · 1:10am</a:t>
            </a:r>
          </a:p>
        </p:txBody>
      </p:sp>
      <p:sp>
        <p:nvSpPr>
          <p:cNvPr id="22" name="Oval 21"/>
          <p:cNvSpPr/>
          <p:nvPr/>
        </p:nvSpPr>
        <p:spPr>
          <a:xfrm>
            <a:off x="11210925" y="4699000"/>
            <a:ext cx="95250" cy="95250"/>
          </a:xfrm>
          <a:prstGeom prst="ellipse">
            <a:avLst/>
          </a:prstGeom>
          <a:noFill/>
          <a:ln w="14287">
            <a:solidFill>
              <a:srgbClr val="2B5B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" y="51054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5A55"/>
                </a:solidFill>
                <a:latin typeface="Inter"/>
              </a:rPr>
              <a:t>Swap these for shots from your room, your crowd, your night.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" y="6172200"/>
            <a:ext cx="10591800" cy="9525"/>
          </a:xfrm>
          <a:prstGeom prst="rect">
            <a:avLst/>
          </a:prstGeom>
          <a:solidFill>
            <a:srgbClr val="D1D1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6257925"/>
            <a:ext cx="683408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67900" y="624840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2B5B5D"/>
                </a:solidFill>
                <a:latin typeface="Jost"/>
              </a:rPr>
              <a:t>05</a:t>
            </a:r>
            <a:r>
              <a:rPr sz="1050" b="1">
                <a:solidFill>
                  <a:srgbClr val="5A5A55"/>
                </a:solidFill>
                <a:latin typeface="Jost"/>
              </a:rPr>
              <a:t>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0100" y="1143000"/>
            <a:ext cx="419100" cy="19050"/>
          </a:xfrm>
          <a:prstGeom prst="rect">
            <a:avLst/>
          </a:prstGeom>
          <a:solidFill>
            <a:srgbClr val="2B5B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12763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 spc="120">
                <a:solidFill>
                  <a:srgbClr val="2B5B5D"/>
                </a:solidFill>
                <a:latin typeface="Inter"/>
              </a:rPr>
              <a:t>LET'S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581150"/>
            <a:ext cx="8001000" cy="161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800" b="1" spc="-90">
                <a:solidFill>
                  <a:srgbClr val="2D2D2A"/>
                </a:solidFill>
                <a:latin typeface="Jost"/>
              </a:rPr>
              <a:t>Give me a corner. I'll handle the rest. </a:t>
            </a:r>
            <a:r>
              <a:rPr sz="4800" b="1" spc="-90">
                <a:solidFill>
                  <a:srgbClr val="FF5A36"/>
                </a:solidFill>
                <a:latin typeface="Jost"/>
              </a:rP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048000"/>
            <a:ext cx="781049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A5A55"/>
                </a:solidFill>
                <a:latin typeface="Inter"/>
              </a:rPr>
              <a:t>Tell me about your event and I'll come back within a day with dates and a price. No deposit to 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82905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D2D2A"/>
                </a:solidFill>
                <a:latin typeface="Inter"/>
              </a:rPr>
              <a:t>hello@futurenostalgia.ca</a:t>
            </a:r>
          </a:p>
        </p:txBody>
      </p:sp>
      <p:sp>
        <p:nvSpPr>
          <p:cNvPr id="7" name="Rectangle 6"/>
          <p:cNvSpPr/>
          <p:nvPr/>
        </p:nvSpPr>
        <p:spPr>
          <a:xfrm>
            <a:off x="3025140" y="3848099"/>
            <a:ext cx="9525" cy="171450"/>
          </a:xfrm>
          <a:prstGeom prst="rect">
            <a:avLst/>
          </a:prstGeom>
          <a:solidFill>
            <a:srgbClr val="D1D1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9940" y="3829050"/>
            <a:ext cx="16687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D2D2A"/>
                </a:solidFill>
                <a:latin typeface="Inter"/>
              </a:rPr>
              <a:t>futurenostalgia.ca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3848099"/>
            <a:ext cx="9525" cy="171450"/>
          </a:xfrm>
          <a:prstGeom prst="rect">
            <a:avLst/>
          </a:prstGeom>
          <a:solidFill>
            <a:srgbClr val="D1D1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79720" y="3829050"/>
            <a:ext cx="158877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D2D2A"/>
                </a:solidFill>
                <a:latin typeface="Inter"/>
              </a:rPr>
              <a:t>@future.nostalgia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" y="4305300"/>
            <a:ext cx="10591800" cy="9525"/>
          </a:xfrm>
          <a:prstGeom prst="rect">
            <a:avLst/>
          </a:prstGeom>
          <a:solidFill>
            <a:srgbClr val="D1D1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about-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20000">
            <a:off x="800100" y="4514850"/>
            <a:ext cx="990599" cy="7891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38349" y="4572000"/>
            <a:ext cx="6858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1">
                <a:solidFill>
                  <a:srgbClr val="5A5A55"/>
                </a:solidFill>
                <a:latin typeface="Inter"/>
              </a:rPr>
              <a:t>I'm Josh Gonzales.</a:t>
            </a:r>
            <a:r>
              <a:rPr sz="1050" b="0">
                <a:solidFill>
                  <a:srgbClr val="5A5A55"/>
                </a:solidFill>
                <a:latin typeface="Inter"/>
              </a:rPr>
              <a:t> I started future.nostalgia for my own family, because the photos we keep are the ones we can hold. A share of every event goes to brain research — the science of why a photograph is worth keeping at all.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" y="6172200"/>
            <a:ext cx="10591800" cy="9525"/>
          </a:xfrm>
          <a:prstGeom prst="rect">
            <a:avLst/>
          </a:prstGeom>
          <a:solidFill>
            <a:srgbClr val="D1D1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mark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6257925"/>
            <a:ext cx="683408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67900" y="624840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2B5B5D"/>
                </a:solidFill>
                <a:latin typeface="Jost"/>
              </a:rPr>
              <a:t>06</a:t>
            </a:r>
            <a:r>
              <a:rPr sz="1050" b="1">
                <a:solidFill>
                  <a:srgbClr val="5A5A55"/>
                </a:solidFill>
                <a:latin typeface="Jost"/>
              </a:rPr>
              <a:t>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